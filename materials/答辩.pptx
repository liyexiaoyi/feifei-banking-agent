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aeb32b48e4889" /><Relationship Type="http://schemas.openxmlformats.org/officeDocument/2006/relationships/extended-properties" Target="/docProps/app.xml" Id="R130106c142d6430f" /><Relationship Type="http://schemas.openxmlformats.org/officeDocument/2006/relationships/officeDocument" Target="/ppt/presentation.xml" Id="Rc03141bec9eb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e6034db504d11"/>
  </p:sldMasterIdLst>
  <p:notesMasterIdLst>
    <p:notesMasterId xmlns:r="http://schemas.openxmlformats.org/officeDocument/2006/relationships" r:id="R13eecb7b8f814fb5"/>
  </p:notesMasterIdLst>
  <p:sldIdLst>
    <p:sldId xmlns:r="http://schemas.openxmlformats.org/officeDocument/2006/relationships" id="256" r:id="Rad7f68c0d4a34e75"/>
    <p:sldId xmlns:r="http://schemas.openxmlformats.org/officeDocument/2006/relationships" id="257" r:id="R0f9225790d984a09"/>
    <p:sldId xmlns:r="http://schemas.openxmlformats.org/officeDocument/2006/relationships" id="258" r:id="R442fa88cf9574885"/>
    <p:sldId xmlns:r="http://schemas.openxmlformats.org/officeDocument/2006/relationships" id="259" r:id="R1657c0051c644ca1"/>
    <p:sldId xmlns:r="http://schemas.openxmlformats.org/officeDocument/2006/relationships" id="260" r:id="R77475fdab6f746eb"/>
    <p:sldId xmlns:r="http://schemas.openxmlformats.org/officeDocument/2006/relationships" id="261" r:id="Rcbeee38db12a4987"/>
    <p:sldId xmlns:r="http://schemas.openxmlformats.org/officeDocument/2006/relationships" id="262" r:id="R4e3faf37312e4b8f"/>
    <p:sldId xmlns:r="http://schemas.openxmlformats.org/officeDocument/2006/relationships" id="263" r:id="Re0487b79d6bd431e"/>
    <p:sldId xmlns:r="http://schemas.openxmlformats.org/officeDocument/2006/relationships" id="264" r:id="Rdd483df15e89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d63dcfc5c4b1a" /><Relationship Type="http://schemas.openxmlformats.org/officeDocument/2006/relationships/slideMaster" Target="/ppt/slideMasters/slideMaster1.xml" Id="R21be6034db504d11" /><Relationship Type="http://schemas.openxmlformats.org/officeDocument/2006/relationships/notesMaster" Target="/ppt/notesMasters/notesMaster1.xml" Id="R13eecb7b8f814fb5" /><Relationship Type="http://schemas.openxmlformats.org/officeDocument/2006/relationships/presProps" Target="/ppt/presProps.xml" Id="R808046a18a41432b" /><Relationship Type="http://schemas.openxmlformats.org/officeDocument/2006/relationships/tableStyles" Target="/ppt/tableStyles.xml" Id="R65bc06573edc430d" /><Relationship Type="http://schemas.openxmlformats.org/officeDocument/2006/relationships/slide" Target="/ppt/slides/slide1.xml" Id="Rad7f68c0d4a34e75" /><Relationship Type="http://schemas.openxmlformats.org/officeDocument/2006/relationships/slide" Target="/ppt/slides/slide2.xml" Id="R0f9225790d984a09" /><Relationship Type="http://schemas.openxmlformats.org/officeDocument/2006/relationships/slide" Target="/ppt/slides/slide3.xml" Id="R442fa88cf9574885" /><Relationship Type="http://schemas.openxmlformats.org/officeDocument/2006/relationships/slide" Target="/ppt/slides/slide4.xml" Id="R1657c0051c644ca1" /><Relationship Type="http://schemas.openxmlformats.org/officeDocument/2006/relationships/slide" Target="/ppt/slides/slide5.xml" Id="R77475fdab6f746eb" /><Relationship Type="http://schemas.openxmlformats.org/officeDocument/2006/relationships/slide" Target="/ppt/slides/slide6.xml" Id="Rcbeee38db12a4987" /><Relationship Type="http://schemas.openxmlformats.org/officeDocument/2006/relationships/slide" Target="/ppt/slides/slide7.xml" Id="R4e3faf37312e4b8f" /><Relationship Type="http://schemas.openxmlformats.org/officeDocument/2006/relationships/slide" Target="/ppt/slides/slide8.xml" Id="Re0487b79d6bd431e" /><Relationship Type="http://schemas.openxmlformats.org/officeDocument/2006/relationships/slide" Target="/ppt/slides/slide9.xml" Id="Rdd483df15e89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7296d9fc7d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dc3eaea93f469f" /><Relationship Type="http://schemas.openxmlformats.org/officeDocument/2006/relationships/notesMaster" Target="/ppt/notesMasters/notesMaster1.xml" Id="R636419a72e654a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cdc011753c460f" /><Relationship Type="http://schemas.openxmlformats.org/officeDocument/2006/relationships/notesMaster" Target="/ppt/notesMasters/notesMaster1.xml" Id="R77ebd9fbf3ab44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d341dc075a4055" /><Relationship Type="http://schemas.openxmlformats.org/officeDocument/2006/relationships/notesMaster" Target="/ppt/notesMasters/notesMaster1.xml" Id="R61fa8d65287147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c635aff38745c1" /><Relationship Type="http://schemas.openxmlformats.org/officeDocument/2006/relationships/notesMaster" Target="/ppt/notesMasters/notesMaster1.xml" Id="R1def3d2b0dbc4c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c6a3f379fa431f" /><Relationship Type="http://schemas.openxmlformats.org/officeDocument/2006/relationships/notesMaster" Target="/ppt/notesMasters/notesMaster1.xml" Id="R2cc7bcf073fb41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7119c492c74cd1" /><Relationship Type="http://schemas.openxmlformats.org/officeDocument/2006/relationships/notesMaster" Target="/ppt/notesMasters/notesMaster1.xml" Id="R84ebbba417214c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bfddb154344fe" /><Relationship Type="http://schemas.openxmlformats.org/officeDocument/2006/relationships/notesMaster" Target="/ppt/notesMasters/notesMaster1.xml" Id="Rf647ffc863d942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12486aa7d4327" /><Relationship Type="http://schemas.openxmlformats.org/officeDocument/2006/relationships/notesMaster" Target="/ppt/notesMasters/notesMaster1.xml" Id="R4ff1174acfcf40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f0645b9494878" /><Relationship Type="http://schemas.openxmlformats.org/officeDocument/2006/relationships/notesMaster" Target="/ppt/notesMasters/notesMaster1.xml" Id="Rf1f384269504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介绍菲菲，一个PC端银行助手。用户在连续对话里提出目标，菲菲读取本机模拟Bank的真实结果并准备下一步，再交给用户独立确认并按风险验证。菲菲自己从不批准资金操作。今天演示的账户、订单和验证都是本机模拟，提交版标识为20261028，详见技术文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出明天给妈妈安排生日，预算500元，本次只选鲜花。菲菲先追问缺失信息，再读取实际目录，分别准备预算预留和订单卡。用户先确认预留，再独立确认付款。花费300元后，账户仍预留200元，页面依据本机回执展示。可选的蛋糕分支也使用同一预算。截图展示固定源码的实际PC页面，订单与资金均为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场景是账单和续费。菲菲先按月度分类读取本机账单，并提示异常，用户同意查询授权后，才读取订阅。取消订阅属于黄级操作，每一项都要用户单独确认，不会一次确认取消全部。真实银行与商户退订渠道尚未接入，这里取消的是本机模拟授权。截图为PC端实际完成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是一个循环。请求经过API的身份校验和CSRF、Origin校验，进入目标控制器。控制器是有限的确定性规则，支持生日和账单续费两类目标，模型规划只在白名单内可选。控制器通过工具观察和准备，WASM只做受限计算，不产生金融权限。Bank用整数分记账，确认在事务内由用户完成。回执用原键GET核对，再回到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分三级。绿级是本人只读查询。黄级包括当日累计不超过1000元的转账，在途金额也计入累计。红级还需要绑定该操作的验证，比如卡片挂失和模拟理财。验证码246810是本机固定演示值，不是真实短信或MFA。结果未知时进入UNKNOWN，只读，不取消也不重试，避免重复扣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展示暂停和未知状态。用户可以暂停、恢复或明确切换目标，同一焦点只有一个目标。暂停只修改目标状态，不会被当成授权。截图是UNKNOWN状态：浏览器仅保存控制请求的不透明原键，刷新后只用GET查询，旧验证码清空，已保存的暂停目标操作卡只读。工作记忆最长600秒，长期记忆只记用户明确要求的笔记，拒绝密钥和验证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需求方向都做了有边界的子集，右列写明没有接入的部分。卡片和理财的红级操作使用本机演示验证，不是真实短信。I3提供受限的WASM计算，没有imports，资源也有限制，结果只作算术参考。代码生成默认未连接，只有服务器显式注入时才可用。我们没有做模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银行后端完整回归2614项通过、1项跳过，这一完整快照在设置入口加入前验证。之后模型设置模块32项通过、1项因Windows符号链接权限跳过，相关API等121项通过。测试组有重叠不能相加。前端500项全通过并构建成功，生日和续费在实际PC界面跑通。DeepSeek官方已返回合法余额计划，没有真实资金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说明边界。菲菲目前只在本机运行，没有接入真实银行、商户、MFA和外部APP或IM，验证码也只是演示值。工具协议本身不代表银行授权。后续通过银行私有适配器、真实身份验证和商户服务完成接入，并在银行授权的环境中进行联调、隐私评估和安全验收。源码、技术文档和安全说明均在公开仓库提供。谢谢各位评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docs/技术文档.md</a:t>
            </a:r>
          </a:p>
          <a:p xmlns:a="http://schemas.openxmlformats.org/drawingml/2006/main">
            <a:r>
              <a:t>docs/安全自评.md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88e9d48b845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02bebcfcf4a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0a14f67d347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d9fe3b2f0142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d9df710fe49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a7317895341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282C01-9719-4BE0-87D7-F364B61449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024CF0-6932-4877-9342-2B42367E74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E4DE5C-7AA4-4376-923D-7EA59156A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E48D3D-D078-411B-9004-BB9103B258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C7DE44-DD7A-4D67-8D4C-F14DA69522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012B99-B664-4BFE-9DED-B39BBFB150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2EDCFF-2C1F-4B0F-BB6E-1A3FA5FA6E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2F4EF2-40A8-4779-AF31-57A5118FBD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1839FE-75E8-41C3-8D40-41571A0774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E4F918-5FB6-4951-926A-A5B4A1D311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9733a868ba4291" /><Relationship Type="http://schemas.openxmlformats.org/officeDocument/2006/relationships/slideLayout" Target="/ppt/slideLayouts/slideLayout1.xml" Id="R900f628c092f48cb" /><Relationship Type="http://schemas.openxmlformats.org/officeDocument/2006/relationships/slideLayout" Target="/ppt/slideLayouts/slideLayout2.xml" Id="Rf8cc108003f6456d" /><Relationship Type="http://schemas.openxmlformats.org/officeDocument/2006/relationships/slideLayout" Target="/ppt/slideLayouts/slideLayout3.xml" Id="R83a0b2cfe460485b" /><Relationship Type="http://schemas.openxmlformats.org/officeDocument/2006/relationships/slideLayout" Target="/ppt/slideLayouts/slideLayout4.xml" Id="Rc1a3fdbbc22f420b" /><Relationship Type="http://schemas.openxmlformats.org/officeDocument/2006/relationships/slideLayout" Target="/ppt/slideLayouts/slideLayout5.xml" Id="R5f6e1c7f75814de6" /><Relationship Type="http://schemas.openxmlformats.org/officeDocument/2006/relationships/slideLayout" Target="/ppt/slideLayouts/slideLayout6.xml" Id="R8affd7a86e9546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f628c092f48cb"/>
    <p:sldLayoutId xmlns:r="http://schemas.openxmlformats.org/officeDocument/2006/relationships" id="2147483650" r:id="Rf8cc108003f6456d"/>
    <p:sldLayoutId xmlns:r="http://schemas.openxmlformats.org/officeDocument/2006/relationships" id="2147483651" r:id="R83a0b2cfe460485b"/>
    <p:sldLayoutId xmlns:r="http://schemas.openxmlformats.org/officeDocument/2006/relationships" id="2147483652" r:id="Rc1a3fdbbc22f420b"/>
    <p:sldLayoutId xmlns:r="http://schemas.openxmlformats.org/officeDocument/2006/relationships" id="2147483653" r:id="R5f6e1c7f75814de6"/>
    <p:sldLayoutId xmlns:r="http://schemas.openxmlformats.org/officeDocument/2006/relationships" id="2147483654" r:id="R8affd7a86e9546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2edebe25e4a88" /><Relationship Type="http://schemas.openxmlformats.org/officeDocument/2006/relationships/notesSlide" Target="/ppt/notesSlides/notesSlide1.xml" Id="Rbb1412b15ae1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5a4ae183f46c8" /><Relationship Type="http://schemas.openxmlformats.org/officeDocument/2006/relationships/image" Target="/ppt/media/image.png" Id="R040014ab6ae7416f" /><Relationship Type="http://schemas.openxmlformats.org/officeDocument/2006/relationships/notesSlide" Target="/ppt/notesSlides/notesSlide2.xml" Id="R0e8c7f1f2ec6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bcde7aa904b9e" /><Relationship Type="http://schemas.openxmlformats.org/officeDocument/2006/relationships/image" Target="/ppt/media/image2.png" Id="R5a70f910d6984a37" /><Relationship Type="http://schemas.openxmlformats.org/officeDocument/2006/relationships/notesSlide" Target="/ppt/notesSlides/notesSlide3.xml" Id="Reca98ae8ab60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7f29815c04131" /><Relationship Type="http://schemas.openxmlformats.org/officeDocument/2006/relationships/notesSlide" Target="/ppt/notesSlides/notesSlide4.xml" Id="Re16ff5d18e0642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17acb6aee244dc" /><Relationship Type="http://schemas.openxmlformats.org/officeDocument/2006/relationships/notesSlide" Target="/ppt/notesSlides/notesSlide5.xml" Id="R608f3162d404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8b5b161954bf0" /><Relationship Type="http://schemas.openxmlformats.org/officeDocument/2006/relationships/image" Target="/ppt/media/image3.png" Id="R8467019432fd4015" /><Relationship Type="http://schemas.openxmlformats.org/officeDocument/2006/relationships/notesSlide" Target="/ppt/notesSlides/notesSlide6.xml" Id="R6723c12682dd4f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717f5a01a4c02" /><Relationship Type="http://schemas.openxmlformats.org/officeDocument/2006/relationships/notesSlide" Target="/ppt/notesSlides/notesSlide7.xml" Id="R53a2bffa7ac1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c49647fa54c58" /><Relationship Type="http://schemas.openxmlformats.org/officeDocument/2006/relationships/notesSlide" Target="/ppt/notesSlides/notesSlide8.xml" Id="R443d826637fa42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f26b7ad784b6d" /><Relationship Type="http://schemas.openxmlformats.org/officeDocument/2006/relationships/notesSlide" Target="/ppt/notesSlides/notesSlide9.xml" Id="R6df128d7078447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1A106212-6825-4574-9F7C-C6134982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rPr>
              <a:t>菲菲：银行AI智能体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A7A38C-F8EF-4A99-8F80-E25122D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PC端银行助手，在连续对话中完成目标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7EB4ABE-C98A-47B7-A89C-BBC79EE3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读取本机Bank的真实结果，准备下一步，资金操作由用户本人确认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A64A5B2-44F8-4F8D-B8D6-2F4DCA04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提交版20261028 · 本机模拟原型</a:t>
            </a:r>
          </a:p>
        </p:txBody>
      </p:sp>
    </p:spTree>
    <p:extLst>
      <p:ext uri="{BB962C8B-B14F-4D97-AF65-F5344CB8AC3E}">
        <p14:creationId xmlns:p14="http://schemas.microsoft.com/office/powerpoint/2010/main" val="1817115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27F0A37-8046-4C04-88E4-9C707076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生日目标：一段对话办完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877073-2A79-4F90-A6CD-AD94F6CC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06A6390-73C1-40A2-8B7A-46D64F5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rPr>
              <a:t>妈妈明天生日，预算500元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068ED3-0A1E-49F6-A759-3CBB984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每一步依据本机银行回执续接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3EAE4E-B28B-46C9-BBAD-29AD2636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付300元，余200元仍预留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B06A11-0CAA-4473-9922-BCA67CDC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预算预留与付款分别确认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11618-EF71-4311-A0A7-24E9C9843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014ab6ae7416f"/>
          <a:stretch xmlns:a="http://schemas.openxmlformats.org/drawingml/2006/main"/>
        </p:blipFill>
        <p:spPr>
          <a:xfrm xmlns:a="http://schemas.openxmlformats.org/drawingml/2006/main">
            <a:off x="6660987" y="1428750"/>
            <a:ext cx="3061026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618A191B-B482-4BD1-9B61-83A5F0C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生日目标结果：实际PC界面局部截图</a:t>
            </a:r>
          </a:p>
        </p:txBody>
      </p:sp>
    </p:spTree>
    <p:extLst>
      <p:ext uri="{BB962C8B-B14F-4D97-AF65-F5344CB8AC3E}">
        <p14:creationId xmlns:p14="http://schemas.microsoft.com/office/powerpoint/2010/main" val="726803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8BD38C70-61CA-4457-A990-BE40E62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账单与续费：逐项确认，逐项取消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1571F0-ECB8-4A7D-B547-B9D915B3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C51C03-9B38-4ECA-A788-0940C769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rPr>
              <a:t>看账单，整理不需要的自动续费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8BD75EC-5DEA-4F99-9EC0-DC80DDCD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按实际模拟流水分析月度账单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7A87285-EA6C-48C8-8D75-AFE6B05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查询订阅和停止续费分别确认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15E7E87-E2E7-4203-BAC2-C3848CAB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取消后续续费，不退款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4E64B-DD51-4997-862B-37FD756D9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0f910d6984a37"/>
          <a:stretch xmlns:a="http://schemas.openxmlformats.org/drawingml/2006/main"/>
        </p:blipFill>
        <p:spPr>
          <a:xfrm xmlns:a="http://schemas.openxmlformats.org/drawingml/2006/main">
            <a:off x="5967028" y="1428750"/>
            <a:ext cx="4448944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CAE0EDA3-5136-4FC2-9BED-D0C067FA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续费整理结果：实际PC界面局部截图</a:t>
            </a:r>
          </a:p>
        </p:txBody>
      </p:sp>
    </p:spTree>
    <p:extLst>
      <p:ext uri="{BB962C8B-B14F-4D97-AF65-F5344CB8AC3E}">
        <p14:creationId xmlns:p14="http://schemas.microsoft.com/office/powerpoint/2010/main" val="6442531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A990D-1D27-4425-835D-4F6698041B53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2895600" y="48101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2A5B3-1595-4779-9085-A1A86F793E61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791200" y="48101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2D886-7092-4AFB-87D0-ED27B234B813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686800" y="48101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AB04E-3913-46C0-9F5B-8B4929E7C85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439400" y="3524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04424-7ACE-4D3A-A28A-6445F8CFD60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8680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63B7A-7868-47CF-9B3A-733F41028F0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9120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63A1D-2B27-4FBD-996E-C0997395CD6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28098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6B64"/>
            </a:solidFill>
            <a:prstDash val="solid"/>
            <a:tailEnd type="triangle" w="med" len="med"/>
          </a:ln>
        </p:spPr>
      </p:cxnSp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AFD0F4F2-E278-4D55-82D8-E52F3C77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智能体如何循环工作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646C45-76DF-4C7D-B6D0-EFDC218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5791A2-F093-4DCD-A536-9ADB6CC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规则推进目标，只读核对回执后，再回到目标</a:t>
            </a:r>
          </a:p>
        </p:txBody>
      </p:sp>
      <p:sp>
        <p:nvSpPr>
          <p:cNvPr id="4" name="diagram-用户">
            <a:extLst xmlns:a="http://schemas.openxmlformats.org/drawingml/2006/main">
              <a:ext uri="{FF2B5EF4-FFF2-40B4-BE49-F238E27FC236}">
                <a16:creationId xmlns:a16="http://schemas.microsoft.com/office/drawing/2014/main" id="{31930E45-C2BD-453E-8FA1-02AF528D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提出目标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本人确认</a:t>
            </a:r>
          </a:p>
        </p:txBody>
      </p:sp>
      <p:sp>
        <p:nvSpPr>
          <p:cNvPr id="5" name="diagram-API">
            <a:extLst xmlns:a="http://schemas.openxmlformats.org/drawingml/2006/main">
              <a:ext uri="{FF2B5EF4-FFF2-40B4-BE49-F238E27FC236}">
                <a16:creationId xmlns:a16="http://schemas.microsoft.com/office/drawing/2014/main" id="{737574F9-A7D7-4298-97D1-3F343294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API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核对本人身份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登记原请求</a:t>
            </a:r>
          </a:p>
        </p:txBody>
      </p:sp>
      <p:sp>
        <p:nvSpPr>
          <p:cNvPr id="6" name="diagram-目标">
            <a:extLst xmlns:a="http://schemas.openxmlformats.org/drawingml/2006/main">
              <a:ext uri="{FF2B5EF4-FFF2-40B4-BE49-F238E27FC236}">
                <a16:creationId xmlns:a16="http://schemas.microsoft.com/office/drawing/2014/main" id="{5BEFB9D2-A2BB-4B15-9077-32FD189E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观察并续接目标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可选模型规划</a:t>
            </a:r>
          </a:p>
        </p:txBody>
      </p:sp>
      <p:sp>
        <p:nvSpPr>
          <p:cNvPr id="7" name="diagram-工具">
            <a:extLst xmlns:a="http://schemas.openxmlformats.org/drawingml/2006/main">
              <a:ext uri="{FF2B5EF4-FFF2-40B4-BE49-F238E27FC236}">
                <a16:creationId xmlns:a16="http://schemas.microsoft.com/office/drawing/2014/main" id="{147EAB6E-82A3-4148-840F-28D27B3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观察与准备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不代表权限</a:t>
            </a:r>
          </a:p>
        </p:txBody>
      </p:sp>
      <p:sp>
        <p:nvSpPr>
          <p:cNvPr id="8" name="diagram-Bank">
            <a:extLst xmlns:a="http://schemas.openxmlformats.org/drawingml/2006/main">
              <a:ext uri="{FF2B5EF4-FFF2-40B4-BE49-F238E27FC236}">
                <a16:creationId xmlns:a16="http://schemas.microsoft.com/office/drawing/2014/main" id="{CC24A8FC-448C-4CC0-A8DD-9E73017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95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Bank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归属与风险校验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准备待确认操作</a:t>
            </a:r>
          </a:p>
        </p:txBody>
      </p:sp>
      <p:sp>
        <p:nvSpPr>
          <p:cNvPr id="9" name="diagram-确认">
            <a:extLst xmlns:a="http://schemas.openxmlformats.org/drawingml/2006/main">
              <a:ext uri="{FF2B5EF4-FFF2-40B4-BE49-F238E27FC236}">
                <a16:creationId xmlns:a16="http://schemas.microsoft.com/office/drawing/2014/main" id="{47E131C8-C0DC-4F3A-B27C-FA70432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本人独立确认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按风险验证</a:t>
            </a:r>
          </a:p>
        </p:txBody>
      </p:sp>
      <p:sp>
        <p:nvSpPr>
          <p:cNvPr id="10" name="diagram-数据库">
            <a:extLst xmlns:a="http://schemas.openxmlformats.org/drawingml/2006/main">
              <a:ext uri="{FF2B5EF4-FFF2-40B4-BE49-F238E27FC236}">
                <a16:creationId xmlns:a16="http://schemas.microsoft.com/office/drawing/2014/main" id="{BB990535-3F37-4D1F-B3C1-9DFD20BD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95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整数分记账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持久化与幂等</a:t>
            </a:r>
          </a:p>
        </p:txBody>
      </p:sp>
      <p:sp>
        <p:nvSpPr>
          <p:cNvPr id="11" name="diagram-回执">
            <a:extLst xmlns:a="http://schemas.openxmlformats.org/drawingml/2006/main">
              <a:ext uri="{FF2B5EF4-FFF2-40B4-BE49-F238E27FC236}">
                <a16:creationId xmlns:a16="http://schemas.microsoft.com/office/drawing/2014/main" id="{032B92E9-E871-46D4-82FE-D93A153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C4E"/>
            </a:solidFill>
            <a:prstDash val="solid"/>
          </a:ln>
        </p:spPr>
        <p:txBody>
          <a:bodyPr xmlns:a="http://schemas.openxmlformats.org/drawingml/2006/main" wrap="square" lIns="95250" tIns="95250" rIns="95250" bIns="95250" anchor="ctr">
            <a:noAutofit/>
          </a:bodyPr>
          <a:lstStyle xmlns:a="http://schemas.openxmlformats.org/drawingml/2006/main">
            <a:def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spcAft>
                <a:spcPts val="400"/>
              </a:spcAft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回执</a:t>
            </a:r>
          </a:p>
          <a:p xmlns:a="http://schemas.openxmlformats.org/drawingml/2006/main">
            <a:pPr algn="ctr">
              <a:defRPr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原键GET核对</a:t>
            </a:r>
            <a:b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</a:br>
            <a:r>
              <a:rPr sz="180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不重发POST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AAF3904D-8281-4AC7-A092-3EA92F5D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回执（Receipt）写回后成为下一次决策的输入。</a:t>
            </a:r>
          </a:p>
        </p:txBody>
      </p:sp>
    </p:spTree>
    <p:extLst>
      <p:ext uri="{BB962C8B-B14F-4D97-AF65-F5344CB8AC3E}">
        <p14:creationId xmlns:p14="http://schemas.microsoft.com/office/powerpoint/2010/main" val="1551825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DAB86B31-6F5E-4003-936D-FBDBF8D3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风险分级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E82D78-2C8A-479F-8493-C1A4C1B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59885-403E-4C9E-B2C5-B39863A98FB2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810000"/>
                <a:gridCol w="4876800"/>
              </a:tblGrid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级别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本人余额、账单查询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只读，直接返回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当日累计（含待处理）转账不超过1000元；查询或取消订阅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累计超过1000元的转账、挂失或解挂、模拟理财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确认，并完成绑定操作的本机演示验证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A5DE914-E5D3-4F2A-822D-905DB16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UNKNOWN：保留原状态，只读，不取消，不重试</a:t>
            </a:r>
          </a:p>
        </p:txBody>
      </p:sp>
    </p:spTree>
    <p:extLst>
      <p:ext uri="{BB962C8B-B14F-4D97-AF65-F5344CB8AC3E}">
        <p14:creationId xmlns:p14="http://schemas.microsoft.com/office/powerpoint/2010/main" val="1659913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81D409C-21B5-4BFF-8F5D-3B08036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暂停、恢复与记忆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90401-CB15-4A7B-9F7F-9EE821EA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74443E5-5032-4298-ABAB-8E6984FB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rPr>
              <a:t>结果待核对时，暂停后续执行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A6A731C-3189-4892-89E0-38D61CC1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暂停不改变资金，恢复不代替授权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BCF2F53-E40B-440B-9E97-2A9E62BA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未知结果只按原请求读取核对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9C0636E-29C8-49EF-81BF-CA488A6B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长期笔记由本人明确保存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FA04D-512B-4EF2-BCAD-BD22ACF7B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7019432fd4015"/>
          <a:stretch xmlns:a="http://schemas.openxmlformats.org/drawingml/2006/main"/>
        </p:blipFill>
        <p:spPr>
          <a:xfrm xmlns:a="http://schemas.openxmlformats.org/drawingml/2006/main">
            <a:off x="6529597" y="1428750"/>
            <a:ext cx="3323805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29075D9-4374-4BE1-B2C7-0BDEDFB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未知结果：实际PC界面局部截图</a:t>
            </a:r>
          </a:p>
        </p:txBody>
      </p:sp>
    </p:spTree>
    <p:extLst>
      <p:ext uri="{BB962C8B-B14F-4D97-AF65-F5344CB8AC3E}">
        <p14:creationId xmlns:p14="http://schemas.microsoft.com/office/powerpoint/2010/main" val="1527424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F748D38B-9D79-423A-B032-455354C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六个业务方向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677DBF-B144-47F2-9D11-9471053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695A4-DEF2-4D09-BA60-28D669AA2728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810000"/>
                <a:gridCol w="4876800"/>
              </a:tblGrid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已实现子集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智能转账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收款人、定时授权、AA分摊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真实银行、常驻调度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账单分析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月度、年度分类与异常提示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真实银行数据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理财操作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问卷、产品对比、模拟申购赎回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实时行情与真实产品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卡片管理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状态、限额、交易锁与模拟消费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真实卡申请与卡组织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订阅代扣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查询、提醒与逐项取消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需商户办理的真实退订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跨场景联动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生日预算与模拟鲜花/蛋糕订单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真实商户与配送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12CFF98-43D5-4E9C-A4A1-0AA4171E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以上功能均在本机模拟Bank内运行</a:t>
            </a:r>
          </a:p>
        </p:txBody>
      </p:sp>
    </p:spTree>
    <p:extLst>
      <p:ext uri="{BB962C8B-B14F-4D97-AF65-F5344CB8AC3E}">
        <p14:creationId xmlns:p14="http://schemas.microsoft.com/office/powerpoint/2010/main" val="1741393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7055830-0C18-4C2D-AC98-5AA4511D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测试与证据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372285-B02D-4B96-9056-25B9E8DB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59B17-9636-4193-9730-E21D1A0D3F67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810000"/>
                <a:gridCol w="4876800"/>
              </a:tblGrid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T w="9525">
                      <a:solidFill>
                        <a:srgbClr val="C9D6CC"/>
                      </a:solidFill>
                      <a:prstDash val="solid"/>
                    </a:lnT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305C4E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银行后端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2614通过、1跳过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设置增补前完整回归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设置与相关API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32及121项通过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组间重叠，详见测试说明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前端与PC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500项通过、构建通过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生日与续费实际PC闭环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模型与样例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9D6CC"/>
                      </a:solidFill>
                      <a:prstDash val="solid"/>
                    </a:lnL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官方DeepSeek规划已验证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75" b="0">
                          <a:solidFill>
                            <a:srgbClr val="273F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合成回放不代表识诈准确率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9D6CC"/>
                      </a:solidFill>
                      <a:prstDash val="solid"/>
                    </a:lnR>
                    <a:lnB w="9525">
                      <a:solidFill>
                        <a:srgbClr val="C9D6CC"/>
                      </a:solidFill>
                      <a:prstDash val="solid"/>
                    </a:lnB>
                    <a:solidFill>
                      <a:srgbClr val="F7F8F5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05920BD-02FD-40CD-BF2A-29F68EE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这些测试结果不代表反诈准确率，也不代表语音识别能力</a:t>
            </a:r>
          </a:p>
        </p:txBody>
      </p:sp>
    </p:spTree>
    <p:extLst>
      <p:ext uri="{BB962C8B-B14F-4D97-AF65-F5344CB8AC3E}">
        <p14:creationId xmlns:p14="http://schemas.microsoft.com/office/powerpoint/2010/main" val="1966371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5249F4A-7BA2-46A0-9633-6B9FF13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边界与下一步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C546DE-EDAB-48A9-9B8B-94B1EDE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DB73F5-5814-4A11-96DF-9597E4AF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05C4E"/>
                </a:solidFill>
                <a:latin typeface="Microsoft YaHei"/>
                <a:ea typeface="Microsoft YaHei"/>
                <a:cs typeface="Microsoft YaHei"/>
              </a:rPr>
              <a:t>菲菲运行在本机，资金操作始终由用户本人确认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AACA8E4-0885-4D49-961E-F03746B6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41C8739-65A1-494B-AD62-0535AE7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181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未接入真实银行、商户、MFA和外部APP或IM</a:t>
            </a:r>
          </a:p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验证码246810是本机演示值，不是真实短信</a:t>
            </a:r>
          </a:p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真实接入需要银行另行授权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C3D9F91-D849-455F-922E-A530EA78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后续接入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05240A8-C762-46C0-AABB-6517B3B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62250"/>
            <a:ext cx="51816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通过银行私有适配器接入</a:t>
            </a:r>
          </a:p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接入真实身份验证与商户服务</a:t>
            </a:r>
          </a:p>
          <a:p xmlns:a="http://schemas.openxmlformats.org/drawingml/2006/main">
            <a:pPr algn="l">
              <a:def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35"/>
                </a:solidFill>
                <a:latin typeface="Microsoft YaHei"/>
                <a:ea typeface="Microsoft YaHei"/>
                <a:cs typeface="Microsoft YaHei"/>
              </a:rPr>
              <a:t>• 按银行环境完成联调与安全验收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039B798-0224-4B21-B3DB-4D68D266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4"/>
                </a:solidFill>
                <a:latin typeface="Microsoft YaHei"/>
                <a:ea typeface="Microsoft YaHei"/>
                <a:cs typeface="Microsoft YaHei"/>
              </a:rPr>
              <a:t>详见技术文档与安全自评</a:t>
            </a:r>
          </a:p>
        </p:txBody>
      </p:sp>
    </p:spTree>
    <p:extLst>
      <p:ext uri="{BB962C8B-B14F-4D97-AF65-F5344CB8AC3E}">
        <p14:creationId xmlns:p14="http://schemas.microsoft.com/office/powerpoint/2010/main" val="585342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2026-10-28T15:48:32.2080000Z</dcterms:created>
  <dcterms:modified xsi:type="dcterms:W3CDTF">2026-10-28T15:48:32.2080000Z</dcterms:modified>
</coreProperties>
</file>